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1" r:id="rId3"/>
  </p:sldMasterIdLst>
  <p:notesMasterIdLst>
    <p:notesMasterId r:id="rId14"/>
  </p:notesMasterIdLst>
  <p:sldIdLst>
    <p:sldId id="256" r:id="rId4"/>
    <p:sldId id="268" r:id="rId5"/>
    <p:sldId id="275" r:id="rId6"/>
    <p:sldId id="274" r:id="rId7"/>
    <p:sldId id="277" r:id="rId8"/>
    <p:sldId id="279" r:id="rId9"/>
    <p:sldId id="282" r:id="rId10"/>
    <p:sldId id="284" r:id="rId11"/>
    <p:sldId id="286" r:id="rId12"/>
    <p:sldId id="288" r:id="rId1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5033" autoAdjust="0"/>
  </p:normalViewPr>
  <p:slideViewPr>
    <p:cSldViewPr snapToGrid="0">
      <p:cViewPr varScale="1">
        <p:scale>
          <a:sx n="68" d="100"/>
          <a:sy n="68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7F001-4320-461F-8788-93F2133AA4E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D9934-D54C-4BD8-82B9-16D54B613FC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306195"/>
          </a:xfrm>
        </p:spPr>
        <p:txBody>
          <a:bodyPr>
            <a:normAutofit/>
          </a:bodyPr>
          <a:p>
            <a:r>
              <a:rPr lang="en-US" sz="5400" dirty="0" smtClean="0">
                <a:sym typeface="+mn-ea"/>
              </a:rPr>
              <a:t>Learning Management System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190240"/>
            <a:ext cx="6405245" cy="2705100"/>
          </a:xfrm>
        </p:spPr>
        <p:txBody>
          <a:bodyPr>
            <a:normAutofit/>
          </a:bodyPr>
          <a:p>
            <a:pPr algn="l"/>
            <a:r>
              <a:rPr lang="en-US" dirty="0" smtClean="0">
                <a:sym typeface="+mn-ea"/>
              </a:rPr>
              <a:t>By :Revant Singh (TL)(</a:t>
            </a:r>
            <a:r>
              <a:rPr lang="en-US" dirty="0" err="1" smtClean="0">
                <a:sym typeface="+mn-ea"/>
              </a:rPr>
              <a:t>Adm</a:t>
            </a:r>
            <a:r>
              <a:rPr lang="en-US" dirty="0" smtClean="0">
                <a:sym typeface="+mn-ea"/>
              </a:rPr>
              <a:t> No. -23SCSE1011997)</a:t>
            </a:r>
            <a:endParaRPr lang="en-US" dirty="0" smtClean="0"/>
          </a:p>
          <a:p>
            <a:pPr algn="l"/>
            <a:r>
              <a:rPr lang="en-US" dirty="0" err="1" smtClean="0">
                <a:sym typeface="+mn-ea"/>
              </a:rPr>
              <a:t>Drishti</a:t>
            </a:r>
            <a:r>
              <a:rPr lang="en-US" dirty="0" smtClean="0">
                <a:sym typeface="+mn-ea"/>
              </a:rPr>
              <a:t> </a:t>
            </a:r>
            <a:r>
              <a:rPr lang="en-US" dirty="0" err="1" smtClean="0">
                <a:sym typeface="+mn-ea"/>
              </a:rPr>
              <a:t>Khundiyan</a:t>
            </a:r>
            <a:r>
              <a:rPr lang="en-US" dirty="0" smtClean="0">
                <a:sym typeface="+mn-ea"/>
              </a:rPr>
              <a:t> (</a:t>
            </a:r>
            <a:r>
              <a:rPr lang="en-US" dirty="0" err="1" smtClean="0">
                <a:sym typeface="+mn-ea"/>
              </a:rPr>
              <a:t>Adm</a:t>
            </a:r>
            <a:r>
              <a:rPr lang="en-US" dirty="0" smtClean="0">
                <a:sym typeface="+mn-ea"/>
              </a:rPr>
              <a:t> No.- 23SCSE1012813)</a:t>
            </a:r>
            <a:endParaRPr lang="en-US" dirty="0" smtClean="0"/>
          </a:p>
          <a:p>
            <a:pPr algn="l"/>
            <a:r>
              <a:rPr lang="en-US" dirty="0" smtClean="0">
                <a:sym typeface="+mn-ea"/>
              </a:rPr>
              <a:t>Bulbul </a:t>
            </a:r>
            <a:r>
              <a:rPr lang="en-US" dirty="0" err="1" smtClean="0">
                <a:sym typeface="+mn-ea"/>
              </a:rPr>
              <a:t>Chaudhary</a:t>
            </a:r>
            <a:r>
              <a:rPr lang="en-US" dirty="0" smtClean="0">
                <a:sym typeface="+mn-ea"/>
              </a:rPr>
              <a:t> </a:t>
            </a:r>
            <a:r>
              <a:rPr lang="en-US" dirty="0" err="1" smtClean="0">
                <a:sym typeface="+mn-ea"/>
              </a:rPr>
              <a:t>(Adm</a:t>
            </a:r>
            <a:r>
              <a:rPr lang="en-US" dirty="0" smtClean="0">
                <a:sym typeface="+mn-ea"/>
              </a:rPr>
              <a:t> No. -23SCSE1012810) 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607"/>
            <a:ext cx="1504949" cy="1023587"/>
          </a:xfrm>
          <a:prstGeom prst="rect">
            <a:avLst/>
          </a:prstGeom>
        </p:spPr>
      </p:pic>
      <p:sp>
        <p:nvSpPr>
          <p:cNvPr id="10" name="Title 1"/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12" name="Title 1"/>
          <p:cNvSpPr txBox="1">
            <a:spLocks noChangeArrowheads="1"/>
          </p:cNvSpPr>
          <p:nvPr/>
        </p:nvSpPr>
        <p:spPr>
          <a:xfrm>
            <a:off x="3" y="6431610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13" name="Title 1"/>
          <p:cNvSpPr txBox="1">
            <a:spLocks noChangeArrowheads="1"/>
          </p:cNvSpPr>
          <p:nvPr/>
        </p:nvSpPr>
        <p:spPr>
          <a:xfrm>
            <a:off x="1504949" y="-49547"/>
            <a:ext cx="10687051" cy="99468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1447"/>
            <a:ext cx="1504949" cy="1023587"/>
          </a:xfrm>
          <a:prstGeom prst="rect">
            <a:avLst/>
          </a:prstGeom>
        </p:spPr>
      </p:pic>
      <p:sp>
        <p:nvSpPr>
          <p:cNvPr id="1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4" name="Subtitle 2"/>
          <p:cNvSpPr>
            <a:spLocks noGrp="1"/>
          </p:cNvSpPr>
          <p:nvPr/>
        </p:nvSpPr>
        <p:spPr>
          <a:xfrm>
            <a:off x="7128510" y="3190240"/>
            <a:ext cx="4061460" cy="270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8147050" y="3179445"/>
            <a:ext cx="4157345" cy="2501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/>
              <a:t>Team No-17</a:t>
            </a:r>
            <a:endParaRPr lang="en-US" sz="2400"/>
          </a:p>
          <a:p>
            <a:r>
              <a:rPr lang="en-US" sz="2400"/>
              <a:t>(Virtual Scholars)</a:t>
            </a:r>
            <a:endParaRPr lang="en-US" sz="2400"/>
          </a:p>
          <a:p>
            <a:r>
              <a:rPr lang="en-US" sz="2400"/>
              <a:t>B.Tech CSE Sec-1 (Sem-3)</a:t>
            </a:r>
            <a:endParaRPr lang="en-US" sz="2400"/>
          </a:p>
          <a:p>
            <a:r>
              <a:rPr lang="en-US" sz="2400"/>
              <a:t>GALGOTIAS UNIVERSITY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765810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ym typeface="+mn-ea"/>
              </a:rPr>
              <a:t>Index 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2575560"/>
            <a:ext cx="10515600" cy="3995420"/>
          </a:xfrm>
        </p:spPr>
        <p:txBody>
          <a:bodyPr/>
          <a:lstStyle/>
          <a:p>
            <a:r>
              <a:rPr lang="en-US" dirty="0" smtClean="0">
                <a:sym typeface="+mn-ea"/>
              </a:rPr>
              <a:t>Introduction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Problem Statement 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Objective 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Roadmap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Technical Stuff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Application</a:t>
            </a:r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5563"/>
          </a:xfrm>
        </p:spPr>
        <p:txBody>
          <a:bodyPr/>
          <a:lstStyle/>
          <a:p>
            <a:pPr algn="ctr"/>
            <a:r>
              <a:rPr lang="en-US" sz="3600" dirty="0" smtClean="0">
                <a:sym typeface="+mn-ea"/>
              </a:rPr>
              <a:t>Introduction</a:t>
            </a:r>
            <a:endParaRPr lang="en-US" sz="360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3995420"/>
          </a:xfrm>
        </p:spPr>
        <p:txBody>
          <a:bodyPr>
            <a:normAutofit fontScale="25000"/>
          </a:bodyPr>
          <a:lstStyle/>
          <a:p>
            <a:r>
              <a:rPr lang="en-US" sz="7200" dirty="0" smtClean="0">
                <a:sym typeface="+mn-ea"/>
              </a:rPr>
              <a:t>A Learning Management System (LMS) is a software application or web-based technology designed to plan, implement, and assess a specific learning process. It provides a platform for the administration, documentation, tracking, reporting, and delivery of educational courses or training programs.</a:t>
            </a:r>
            <a:endParaRPr lang="en-US" sz="7200" dirty="0" smtClean="0"/>
          </a:p>
          <a:p>
            <a:r>
              <a:rPr lang="en-US" sz="7200" dirty="0" smtClean="0">
                <a:sym typeface="+mn-ea"/>
              </a:rPr>
              <a:t>LMS is commonly used in: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Educational Institutions</a:t>
            </a:r>
            <a:r>
              <a:rPr lang="en-US" sz="7200" dirty="0" smtClean="0">
                <a:sym typeface="+mn-ea"/>
              </a:rPr>
              <a:t>: To facilitate e-learning, blending traditional methods with online resources.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Corporate Settings</a:t>
            </a:r>
            <a:r>
              <a:rPr lang="en-US" sz="7200" dirty="0" smtClean="0">
                <a:sym typeface="+mn-ea"/>
              </a:rPr>
              <a:t>: For employee training and professional development.</a:t>
            </a:r>
            <a:endParaRPr lang="en-US" sz="7200" dirty="0" smtClean="0"/>
          </a:p>
          <a:p>
            <a:r>
              <a:rPr lang="en-US" sz="7200" dirty="0" smtClean="0">
                <a:sym typeface="+mn-ea"/>
              </a:rPr>
              <a:t>Key Features of LMS: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Centralized Learning</a:t>
            </a:r>
            <a:r>
              <a:rPr lang="en-US" sz="7200" dirty="0" smtClean="0">
                <a:sym typeface="+mn-ea"/>
              </a:rPr>
              <a:t>: Allows users to access learning materials from one location.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Personalization</a:t>
            </a:r>
            <a:r>
              <a:rPr lang="en-US" sz="7200" dirty="0" smtClean="0">
                <a:sym typeface="+mn-ea"/>
              </a:rPr>
              <a:t>: Customizes learning paths based on individual needs.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Tracking and Reporting</a:t>
            </a:r>
            <a:r>
              <a:rPr lang="en-US" sz="7200" dirty="0" smtClean="0">
                <a:sym typeface="+mn-ea"/>
              </a:rPr>
              <a:t>: Provides detailed analytics on learner progress and performance.</a:t>
            </a:r>
            <a:endParaRPr lang="en-US" sz="7200" dirty="0" smtClean="0"/>
          </a:p>
          <a:p>
            <a:r>
              <a:rPr lang="en-US" sz="7200" b="1" dirty="0" smtClean="0">
                <a:sym typeface="+mn-ea"/>
              </a:rPr>
              <a:t>Collaboration</a:t>
            </a:r>
            <a:r>
              <a:rPr lang="en-US" sz="7200" dirty="0" smtClean="0">
                <a:sym typeface="+mn-ea"/>
              </a:rPr>
              <a:t>: Encourages interaction through discussion forums, messaging, and group projects.</a:t>
            </a:r>
            <a:endParaRPr lang="en-US" sz="7200" dirty="0" smtClean="0"/>
          </a:p>
          <a:p>
            <a:r>
              <a:rPr lang="en-US" sz="7200" dirty="0" smtClean="0">
                <a:sym typeface="+mn-ea"/>
              </a:rPr>
              <a:t>In this presentation, we will explore:</a:t>
            </a:r>
            <a:endParaRPr lang="en-US" sz="7200" dirty="0" smtClean="0"/>
          </a:p>
          <a:p>
            <a:r>
              <a:rPr lang="en-US" sz="7200" dirty="0" smtClean="0">
                <a:sym typeface="+mn-ea"/>
              </a:rPr>
              <a:t>The importance of LMS in modern education and training.</a:t>
            </a:r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5563"/>
          </a:xfrm>
        </p:spPr>
        <p:txBody>
          <a:bodyPr/>
          <a:lstStyle/>
          <a:p>
            <a:pPr algn="ctr"/>
            <a:r>
              <a:rPr lang="en-US" sz="3600" dirty="0" smtClean="0">
                <a:sym typeface="+mn-ea"/>
              </a:rPr>
              <a:t>Problem Statement</a:t>
            </a:r>
            <a:endParaRPr lang="en-US" sz="360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399542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ym typeface="+mn-ea"/>
              </a:rPr>
              <a:t>In today’s fast-evolving digital landscape, traditional learning methods are often unable to meet the needs of modern learners and organizations. Some key challenges include:</a:t>
            </a:r>
            <a:endParaRPr lang="en-US" dirty="0" smtClean="0"/>
          </a:p>
          <a:p>
            <a:r>
              <a:rPr lang="en-US" b="1" dirty="0" smtClean="0">
                <a:sym typeface="+mn-ea"/>
              </a:rPr>
              <a:t>Geographical Barriers</a:t>
            </a:r>
            <a:r>
              <a:rPr lang="en-US" dirty="0" smtClean="0">
                <a:sym typeface="+mn-ea"/>
              </a:rPr>
              <a:t>: Physical classrooms and in-person training limit access to education and professional development for remote learners and employees.</a:t>
            </a:r>
            <a:endParaRPr lang="en-US" dirty="0" smtClean="0"/>
          </a:p>
          <a:p>
            <a:r>
              <a:rPr lang="en-US" b="1" dirty="0" smtClean="0">
                <a:sym typeface="+mn-ea"/>
              </a:rPr>
              <a:t>Limited Flexibility</a:t>
            </a:r>
            <a:r>
              <a:rPr lang="en-US" dirty="0" smtClean="0">
                <a:sym typeface="+mn-ea"/>
              </a:rPr>
              <a:t>: Learners often struggle to balance education or training with work and personal commitments due to rigid schedules.</a:t>
            </a:r>
            <a:endParaRPr lang="en-US" dirty="0" smtClean="0"/>
          </a:p>
          <a:p>
            <a:r>
              <a:rPr lang="en-US" b="1" dirty="0" smtClean="0">
                <a:sym typeface="+mn-ea"/>
              </a:rPr>
              <a:t>Inconsistent Learning Experiences</a:t>
            </a:r>
            <a:r>
              <a:rPr lang="en-US" dirty="0" smtClean="0">
                <a:sym typeface="+mn-ea"/>
              </a:rPr>
              <a:t>: Lack of standardization in content delivery can lead to gaps in knowledge retention and skill acquisition.</a:t>
            </a:r>
            <a:endParaRPr lang="en-US" dirty="0" smtClean="0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5563"/>
          </a:xfrm>
        </p:spPr>
        <p:txBody>
          <a:bodyPr/>
          <a:lstStyle/>
          <a:p>
            <a:pPr algn="ctr"/>
            <a:r>
              <a:rPr lang="en-US" sz="3600" dirty="0" smtClean="0">
                <a:sym typeface="+mn-ea"/>
              </a:rPr>
              <a:t>Objective</a:t>
            </a:r>
            <a:endParaRPr lang="en-US" sz="360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399542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sz="8000" dirty="0" smtClean="0">
                <a:sym typeface="+mn-ea"/>
              </a:rPr>
              <a:t>The primary objective of this presentation is to explore how Learning Management Systems (LMS) address the challenges faced by traditional learning and training methods. Specifically, we aim to:</a:t>
            </a:r>
            <a:endParaRPr lang="en-US" sz="8000" dirty="0" smtClean="0"/>
          </a:p>
          <a:p>
            <a:r>
              <a:rPr lang="en-US" sz="8000" b="1" dirty="0" smtClean="0">
                <a:sym typeface="+mn-ea"/>
              </a:rPr>
              <a:t>Understand LMS Fundamentals</a:t>
            </a:r>
            <a:r>
              <a:rPr lang="en-US" sz="8000" dirty="0" smtClean="0">
                <a:sym typeface="+mn-ea"/>
              </a:rPr>
              <a:t>: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Define what an LMS is and explain its key components.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Highlight the different types of LMS used in education and corporate training.</a:t>
            </a:r>
            <a:endParaRPr lang="en-US" sz="8000" dirty="0" smtClean="0"/>
          </a:p>
          <a:p>
            <a:r>
              <a:rPr lang="en-US" sz="8000" b="1" dirty="0" smtClean="0">
                <a:sym typeface="+mn-ea"/>
              </a:rPr>
              <a:t>Examine LMS Functionality</a:t>
            </a:r>
            <a:r>
              <a:rPr lang="en-US" sz="8000" dirty="0" smtClean="0">
                <a:sym typeface="+mn-ea"/>
              </a:rPr>
              <a:t>: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Investigate core LMS features such as course management, tracking, reporting, and assessment tools.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Understand how LMS fosters collaboration through discussion forums, group projects, and real-time communication.</a:t>
            </a:r>
            <a:endParaRPr lang="en-US" sz="8000" dirty="0" smtClean="0"/>
          </a:p>
          <a:p>
            <a:r>
              <a:rPr lang="en-US" sz="8000" b="1" dirty="0" smtClean="0">
                <a:sym typeface="+mn-ea"/>
              </a:rPr>
              <a:t>Evaluate LMS Impact on Education and Training</a:t>
            </a:r>
            <a:r>
              <a:rPr lang="en-US" sz="8000" dirty="0" smtClean="0">
                <a:sym typeface="+mn-ea"/>
              </a:rPr>
              <a:t>: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Discuss how LMS enhances the learning experience in educational institutions and corporate environments.</a:t>
            </a:r>
            <a:endParaRPr lang="en-US" sz="8000" dirty="0" smtClean="0"/>
          </a:p>
          <a:p>
            <a:pPr lvl="1"/>
            <a:r>
              <a:rPr lang="en-US" sz="8000" dirty="0" smtClean="0">
                <a:sym typeface="+mn-ea"/>
              </a:rPr>
              <a:t>Measure the effectiveness of LMS in improving learner performance and retention.</a:t>
            </a:r>
            <a:endParaRPr lang="en-US" sz="8000" dirty="0" smtClean="0"/>
          </a:p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5563"/>
          </a:xfrm>
        </p:spPr>
        <p:txBody>
          <a:bodyPr/>
          <a:lstStyle/>
          <a:p>
            <a:pPr algn="ctr"/>
            <a:r>
              <a:rPr lang="en-US" sz="3600" dirty="0" smtClean="0">
                <a:sym typeface="+mn-ea"/>
              </a:rPr>
              <a:t>Flow Diagram </a:t>
            </a:r>
            <a:endParaRPr lang="en-US" sz="360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39954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0" dirty="0" smtClean="0"/>
          </a:p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  <p:sp>
        <p:nvSpPr>
          <p:cNvPr id="2" name="Rectangle 4"/>
          <p:cNvSpPr/>
          <p:nvPr/>
        </p:nvSpPr>
        <p:spPr>
          <a:xfrm>
            <a:off x="1017270" y="2743200"/>
            <a:ext cx="1371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User registration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2545715" y="2971800"/>
            <a:ext cx="990600" cy="2286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5"/>
          <p:cNvSpPr/>
          <p:nvPr/>
        </p:nvSpPr>
        <p:spPr>
          <a:xfrm>
            <a:off x="3599180" y="2743200"/>
            <a:ext cx="1219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Course </a:t>
            </a:r>
            <a:endParaRPr lang="en-US" dirty="0" smtClean="0"/>
          </a:p>
          <a:p>
            <a:pPr algn="ctr"/>
            <a:r>
              <a:rPr lang="en-US" dirty="0" smtClean="0"/>
              <a:t>Creation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5004435" y="2971800"/>
            <a:ext cx="838200" cy="2286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 6"/>
          <p:cNvSpPr/>
          <p:nvPr/>
        </p:nvSpPr>
        <p:spPr>
          <a:xfrm>
            <a:off x="6028690" y="2743200"/>
            <a:ext cx="1219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Content </a:t>
            </a:r>
            <a:endParaRPr lang="en-US" dirty="0" smtClean="0"/>
          </a:p>
          <a:p>
            <a:pPr algn="ctr"/>
            <a:r>
              <a:rPr lang="en-US" dirty="0" smtClean="0"/>
              <a:t>Delivery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7433945" y="2971800"/>
            <a:ext cx="914400" cy="228600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7"/>
          <p:cNvSpPr/>
          <p:nvPr/>
        </p:nvSpPr>
        <p:spPr>
          <a:xfrm>
            <a:off x="8534400" y="2743200"/>
            <a:ext cx="1371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Assessment &amp;Testing</a:t>
            </a:r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>
            <a:off x="9105900" y="3617595"/>
            <a:ext cx="228600" cy="1143000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8"/>
          <p:cNvSpPr/>
          <p:nvPr/>
        </p:nvSpPr>
        <p:spPr>
          <a:xfrm>
            <a:off x="8686800" y="487299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Progress Tracking</a:t>
            </a:r>
            <a:endParaRPr lang="en-US" dirty="0"/>
          </a:p>
        </p:txBody>
      </p:sp>
      <p:sp>
        <p:nvSpPr>
          <p:cNvPr id="17" name="Left Arrow 16"/>
          <p:cNvSpPr/>
          <p:nvPr/>
        </p:nvSpPr>
        <p:spPr>
          <a:xfrm>
            <a:off x="7433945" y="5181600"/>
            <a:ext cx="1219200" cy="228600"/>
          </a:xfrm>
          <a:prstGeom prst="lef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Left Arrow 17"/>
          <p:cNvSpPr/>
          <p:nvPr/>
        </p:nvSpPr>
        <p:spPr>
          <a:xfrm>
            <a:off x="4699635" y="5181600"/>
            <a:ext cx="1219200" cy="228600"/>
          </a:xfrm>
          <a:prstGeom prst="lef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/>
          <p:cNvSpPr/>
          <p:nvPr/>
        </p:nvSpPr>
        <p:spPr>
          <a:xfrm>
            <a:off x="5952490" y="4876800"/>
            <a:ext cx="1447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Feedback Collection</a:t>
            </a:r>
            <a:endParaRPr lang="en-US" dirty="0"/>
          </a:p>
        </p:txBody>
      </p:sp>
      <p:sp>
        <p:nvSpPr>
          <p:cNvPr id="21" name="Rectangle 10"/>
          <p:cNvSpPr/>
          <p:nvPr/>
        </p:nvSpPr>
        <p:spPr>
          <a:xfrm>
            <a:off x="3378200" y="487299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 smtClean="0"/>
              <a:t>Data Analysis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6515"/>
          </a:xfrm>
        </p:spPr>
        <p:txBody>
          <a:bodyPr/>
          <a:lstStyle/>
          <a:p>
            <a:pPr algn="ctr"/>
            <a:r>
              <a:rPr lang="en-US" dirty="0" smtClean="0">
                <a:sym typeface="+mn-ea"/>
              </a:rPr>
              <a:t>Technical Stacks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941830"/>
            <a:ext cx="10515600" cy="3995420"/>
          </a:xfrm>
        </p:spPr>
        <p:txBody>
          <a:bodyPr>
            <a:normAutofit fontScale="90000" lnSpcReduction="10000"/>
          </a:bodyPr>
          <a:lstStyle/>
          <a:p>
            <a:pPr marL="514350" indent="-514350">
              <a:buNone/>
            </a:pPr>
            <a:r>
              <a:rPr lang="en-US" dirty="0" smtClean="0">
                <a:sym typeface="+mn-ea"/>
              </a:rPr>
              <a:t>Backend: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+mn-ea"/>
              </a:rPr>
              <a:t>	</a:t>
            </a:r>
            <a:r>
              <a:rPr lang="en-US" b="1" dirty="0" smtClean="0">
                <a:sym typeface="+mn-ea"/>
              </a:rPr>
              <a:t> Java</a:t>
            </a:r>
            <a:r>
              <a:rPr lang="en-US" dirty="0" smtClean="0">
                <a:sym typeface="+mn-ea"/>
              </a:rPr>
              <a:t>: Commonly used in enterprise-level LMS 	platforms due to its robustness, security, and 	scalability.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+mn-ea"/>
              </a:rPr>
              <a:t>	</a:t>
            </a:r>
            <a:r>
              <a:rPr lang="en-US" b="1" dirty="0" smtClean="0">
                <a:sym typeface="+mn-ea"/>
              </a:rPr>
              <a:t> </a:t>
            </a:r>
            <a:r>
              <a:rPr lang="en-US" b="1" dirty="0" err="1" smtClean="0">
                <a:sym typeface="+mn-ea"/>
              </a:rPr>
              <a:t>MySQL</a:t>
            </a:r>
            <a:r>
              <a:rPr lang="en-US" b="1" dirty="0" smtClean="0">
                <a:sym typeface="+mn-ea"/>
              </a:rPr>
              <a:t> </a:t>
            </a:r>
            <a:r>
              <a:rPr lang="en-US" dirty="0" smtClean="0">
                <a:sym typeface="+mn-ea"/>
              </a:rPr>
              <a:t>: A common open-source relational database used 	by LMS platforms like </a:t>
            </a:r>
            <a:r>
              <a:rPr lang="en-US" dirty="0" err="1" smtClean="0">
                <a:sym typeface="+mn-ea"/>
              </a:rPr>
              <a:t>Moodle</a:t>
            </a:r>
            <a:r>
              <a:rPr lang="en-US" dirty="0" smtClean="0">
                <a:sym typeface="+mn-ea"/>
              </a:rPr>
              <a:t> for managing user data, 	course content, and reports.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>
                <a:sym typeface="+mn-ea"/>
              </a:rPr>
              <a:t>Frontend: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+mn-ea"/>
              </a:rPr>
              <a:t>	</a:t>
            </a:r>
            <a:r>
              <a:rPr lang="en-US" b="1" dirty="0" smtClean="0">
                <a:sym typeface="+mn-ea"/>
              </a:rPr>
              <a:t>JavaScript</a:t>
            </a:r>
            <a:r>
              <a:rPr lang="en-US" dirty="0" smtClean="0">
                <a:sym typeface="+mn-ea"/>
              </a:rPr>
              <a:t>: Used for both front-end and back-end development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>
                <a:sym typeface="+mn-ea"/>
              </a:rPr>
              <a:t>Version Control: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+mn-ea"/>
              </a:rPr>
              <a:t>	</a:t>
            </a:r>
            <a:r>
              <a:rPr lang="en-US" b="1" dirty="0" smtClean="0">
                <a:sym typeface="+mn-ea"/>
              </a:rPr>
              <a:t> </a:t>
            </a:r>
            <a:r>
              <a:rPr lang="en-US" b="1" dirty="0" err="1" smtClean="0">
                <a:sym typeface="+mn-ea"/>
              </a:rPr>
              <a:t>Git</a:t>
            </a:r>
            <a:r>
              <a:rPr lang="en-US" b="1" dirty="0" smtClean="0">
                <a:sym typeface="+mn-ea"/>
              </a:rPr>
              <a:t> and </a:t>
            </a:r>
            <a:r>
              <a:rPr lang="en-US" b="1" dirty="0" err="1" smtClean="0">
                <a:sym typeface="+mn-ea"/>
              </a:rPr>
              <a:t>GitHub</a:t>
            </a:r>
            <a:r>
              <a:rPr lang="en-US" b="1" dirty="0" smtClean="0">
                <a:sym typeface="+mn-ea"/>
              </a:rPr>
              <a:t> </a:t>
            </a:r>
            <a:r>
              <a:rPr lang="en-US" dirty="0" smtClean="0">
                <a:sym typeface="+mn-ea"/>
              </a:rPr>
              <a:t>:Used for version control and collaborative development in LMS projects</a:t>
            </a:r>
            <a:endParaRPr lang="en-US" dirty="0" smtClean="0"/>
          </a:p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949" y="-116546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Science and Engineering 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615950"/>
            <a:ext cx="10515600" cy="1326515"/>
          </a:xfrm>
        </p:spPr>
        <p:txBody>
          <a:bodyPr/>
          <a:lstStyle/>
          <a:p>
            <a:pPr algn="ctr"/>
            <a:r>
              <a:rPr lang="en-US" dirty="0" smtClean="0">
                <a:sym typeface="+mn-ea"/>
              </a:rPr>
              <a:t>Applications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941830"/>
            <a:ext cx="10515600" cy="399542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dirty="0" smtClean="0">
                <a:sym typeface="+mn-ea"/>
              </a:rPr>
              <a:t>Educational Institutions</a:t>
            </a:r>
            <a:endParaRPr lang="en-US" dirty="0" smtClean="0"/>
          </a:p>
          <a:p>
            <a:pPr>
              <a:buNone/>
            </a:pPr>
            <a:r>
              <a:rPr lang="en-US" b="1" dirty="0" smtClean="0">
                <a:sym typeface="+mn-ea"/>
              </a:rPr>
              <a:t>	Higher Education</a:t>
            </a:r>
            <a:r>
              <a:rPr lang="en-US" dirty="0" smtClean="0">
                <a:sym typeface="+mn-ea"/>
              </a:rPr>
              <a:t>: Universities and colleges use LMS to deliver online courses, manage virtual classrooms, and provide students with access to extensive learning resources.</a:t>
            </a:r>
            <a:endParaRPr lang="en-US" dirty="0" smtClean="0"/>
          </a:p>
          <a:p>
            <a:pPr marL="514350" indent="-514350">
              <a:buNone/>
            </a:pPr>
            <a:r>
              <a:rPr lang="en-US" b="1" dirty="0" smtClean="0">
                <a:sym typeface="+mn-ea"/>
              </a:rPr>
              <a:t>Non-Formal Education</a:t>
            </a:r>
            <a:endParaRPr lang="en-US" b="1" dirty="0" smtClean="0"/>
          </a:p>
          <a:p>
            <a:pPr>
              <a:buNone/>
            </a:pPr>
            <a:r>
              <a:rPr lang="en-US" b="1" dirty="0" smtClean="0">
                <a:sym typeface="+mn-ea"/>
              </a:rPr>
              <a:t>	Personal Development</a:t>
            </a:r>
            <a:r>
              <a:rPr lang="en-US" dirty="0" smtClean="0">
                <a:sym typeface="+mn-ea"/>
              </a:rPr>
              <a:t>: LMS platforms enable users to access self-paced learning on a variety of subjects such as photography, cooking, fitness, language learning, and more. Platforms like </a:t>
            </a:r>
            <a:r>
              <a:rPr lang="en-US" dirty="0" err="1" smtClean="0">
                <a:sym typeface="+mn-ea"/>
              </a:rPr>
              <a:t>Udemy</a:t>
            </a:r>
            <a:r>
              <a:rPr lang="en-US" dirty="0" smtClean="0">
                <a:sym typeface="+mn-ea"/>
              </a:rPr>
              <a:t>, </a:t>
            </a:r>
            <a:r>
              <a:rPr lang="en-US" dirty="0" err="1" smtClean="0">
                <a:sym typeface="+mn-ea"/>
              </a:rPr>
              <a:t>Skillshare</a:t>
            </a:r>
            <a:r>
              <a:rPr lang="en-US" dirty="0" smtClean="0">
                <a:sym typeface="+mn-ea"/>
              </a:rPr>
              <a:t>, and LinkedIn Learning offer thousands of courses for individual learners.</a:t>
            </a:r>
            <a:endParaRPr lang="en-US" dirty="0" smtClean="0"/>
          </a:p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315" y="-53975"/>
            <a:ext cx="10687685" cy="848995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50290" y="-238125"/>
            <a:ext cx="10515600" cy="1183005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Main Class Code Snippet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941830"/>
            <a:ext cx="10515600" cy="399542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020"/>
            <a:ext cx="12192000" cy="5637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Faculty Name: </a:t>
            </a:r>
            <a:r>
              <a:rPr lang="en-IN" altLang="zh-CN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 Dr. Santosh Kumar Srivastava    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                                                               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 noChangeArrowheads="1"/>
          </p:cNvSpPr>
          <p:nvPr/>
        </p:nvSpPr>
        <p:spPr>
          <a:xfrm>
            <a:off x="3" y="6458881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			     		</a:t>
            </a:r>
            <a:endParaRPr lang="zh-CN" altLang="en-US" sz="24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 noChangeArrowheads="1"/>
          </p:cNvSpPr>
          <p:nvPr/>
        </p:nvSpPr>
        <p:spPr>
          <a:xfrm>
            <a:off x="1504315" y="-53975"/>
            <a:ext cx="10687685" cy="848995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8446"/>
            <a:ext cx="1504949" cy="102358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50290" y="-238125"/>
            <a:ext cx="10515600" cy="1183005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Output Screenshot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941830"/>
            <a:ext cx="10515600" cy="399542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endParaRPr lang="en-US" sz="2800" dirty="0"/>
          </a:p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795020"/>
            <a:ext cx="12193270" cy="5662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5531</Words>
  <Application>WPS Presentation</Application>
  <PresentationFormat>Widescreen</PresentationFormat>
  <Paragraphs>199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Tinos</vt:lpstr>
      <vt:lpstr>Segoe Print</vt:lpstr>
      <vt:lpstr>Calibri Light</vt:lpstr>
      <vt:lpstr>Calibri</vt:lpstr>
      <vt:lpstr>Microsoft YaHei</vt:lpstr>
      <vt:lpstr>Arial Unicode MS</vt:lpstr>
      <vt:lpstr>Office Theme</vt:lpstr>
      <vt:lpstr>1_Office Theme</vt:lpstr>
      <vt:lpstr>Learning Management System</vt:lpstr>
      <vt:lpstr>Index </vt:lpstr>
      <vt:lpstr>Introduction</vt:lpstr>
      <vt:lpstr>Problem Statement</vt:lpstr>
      <vt:lpstr>Objective</vt:lpstr>
      <vt:lpstr>Flow Diagram </vt:lpstr>
      <vt:lpstr>Technical Stacks</vt:lpstr>
      <vt:lpstr>Applications</vt:lpstr>
      <vt:lpstr>Applications</vt:lpstr>
      <vt:lpstr>Output Screenshot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Singh</dc:creator>
  <cp:lastModifiedBy>Revant Singh</cp:lastModifiedBy>
  <cp:revision>68</cp:revision>
  <dcterms:created xsi:type="dcterms:W3CDTF">2024-10-22T06:36:00Z</dcterms:created>
  <dcterms:modified xsi:type="dcterms:W3CDTF">2024-11-10T15:36:59Z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2023-12-18T15:58:09Z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6833a886-d112-47ce-960e-8a5c6c1bf58a</vt:lpwstr>
  </property>
  <property fmtid="{D5CDD505-2E9C-101B-9397-08002B2CF9AE}" pid="7" name="MSIP_Label_defa4170-0d19-0005-0004-bc88714345d2_ActionId">
    <vt:lpwstr>15a31eee-d558-4800-aa93-3aea7a61add5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24C096F31043463C8AFEA2FAC55DBC98_13</vt:lpwstr>
  </property>
  <property fmtid="{D5CDD505-2E9C-101B-9397-08002B2CF9AE}" pid="10" name="KSOProductBuildVer">
    <vt:lpwstr>1033-12.2.0.18607</vt:lpwstr>
  </property>
</Properties>
</file>